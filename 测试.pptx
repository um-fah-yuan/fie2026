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纯提示词" id="{D09B6393-F244-4659-89CD-32D58951A3B6}">
          <p14:sldIdLst>
            <p14:sldId id="256"/>
            <p14:sldId id="257"/>
          </p14:sldIdLst>
        </p14:section>
        <p14:section name="多轮对话+提示词" id="{5820783D-044A-4E53-8C19-2E45CD7EC2C8}">
          <p14:sldIdLst>
            <p14:sldId id="258"/>
            <p14:sldId id="259"/>
            <p14:sldId id="260"/>
            <p14:sldId id="261"/>
          </p14:sldIdLst>
        </p14:section>
        <p14:section name="rubrics+maj vote (TTS)" id="{279CFA2B-0116-45CC-A4AB-F5C42036E7B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72" y="72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8CAF1-CED9-9BEB-D6A0-C88EBDC66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E35586D-52E6-7916-5F0D-4346EA8A4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7CBCF-0409-1268-651A-BD08655F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9F4956-3AA3-D172-8BE3-4F9B6B75B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4681CB-5456-2C87-C58C-EC606ACC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85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6C42B-6F80-A3C6-FBA7-9B1DA401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62E4A-A509-DC61-AF61-17FACD85A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F1218-6E08-97BE-71CD-68E8FD91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B66540-F69E-F4F9-AF0A-9109D43B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70045A-B14A-C8D1-29BE-6A75EB90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49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6D1DD-E1ED-20F9-50A9-7BCD6BFFF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F45833-242E-C4E3-A9B8-C627E3E54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49ACD-56FE-8EF5-AEDB-1B0FB63E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D36A5A-A35F-62E3-AA66-A033242D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37B379-1040-4D7A-8A24-01F52000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22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015A9C-EEC7-4BA5-14AF-E5EEA1EE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7A23C1-7F6E-BF77-80E4-0EDC8CB91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8DC372-1A16-AA7A-41A5-B49E896F2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C5DBF4-3D87-B455-C575-19153665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246478-9515-642D-3C17-A8891A50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B2D75-167E-FBB5-F19E-18F171FD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18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73572-031B-1AD7-45E1-756EB651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0543D7-3637-E467-FF3D-563DA5DD6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2D8982-32A8-3EDF-D08F-17DF491EA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F1944F-AD55-DA7A-0209-3585C5A7D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4BFBD9C-6785-C0F0-5554-8DA45EEDA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D9A4AD-3376-1A1E-8DB1-34DDEB35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48EDC3-B7A2-47CB-A625-38D17A29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CA1529-6BB8-3BC7-416E-56747F1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54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5891C-9880-10DA-6D76-92C3547E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043DFB-5483-CB36-D6BB-4DB656B8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DD5375-6778-99AB-40D8-C49635BB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80A888C-7596-0B0A-9191-77A9092C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82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88C7C2-EAAC-EE44-4D88-5238D9CC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76EA973-F6E9-D07D-167E-40D924451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C29DF7-A6EE-96F6-5BF3-DC07E94D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5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4C58E-E8DE-31A4-61C6-F6660176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8CBAD2-0616-A256-591A-0861D7458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736909-2439-4A06-DB87-51242B7E7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542312-A097-5B0C-2B24-C7221280B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F3E8C9-AF1D-91D2-2178-6DEC9D0E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236586-983D-C856-50D3-07CB34A3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632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BF142-B545-4588-FAFA-AB8793D53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4B2D0A-1F44-BC2F-D8C3-B567571FC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F41D8F-DFFE-DC5E-3BEE-DB3D68576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1482E0-8DCA-4114-3C70-8DE7BBE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14EA8E-871C-ECC8-5241-1D3BA16B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CFC35-B606-5D89-48BF-629A1ACB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16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0037D-B2A6-0B61-9F9E-5882EEC1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3C6094E-78FB-B373-DC37-BAA7BBA6B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E16F2C-3F17-5902-9D2D-EB38E1572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70C7F-8B40-3850-8878-199F22830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52FDE-BFC5-3E29-0854-A3E51360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93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8385D6-034A-170B-08B1-D4AB5073A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1C12E9-DFA9-4666-E64A-A286E3FCE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AEA05-520B-0140-A961-668EC475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88833-4FD2-11EF-679B-6D493847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2E679-8861-65D1-E109-D72972BE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912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DDB0F0-24BB-9EDD-5ED9-B7A19D1E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2E0F52-EEFD-326B-081E-FC5EB6E3E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C741F6-EF73-C067-13CE-50DCF519C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7C353-7AC3-40AD-B086-010C822AC168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5A9EE-853E-5914-BF33-EFDBA47CA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B10A1A-402A-4A7D-EB3C-55E66A09B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F6D89-C712-4CEE-ABBE-B14A097879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306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D19E94-0B2B-B4AD-8DF0-AA99B903B3EC}"/>
              </a:ext>
            </a:extLst>
          </p:cNvPr>
          <p:cNvSpPr txBox="1"/>
          <p:nvPr/>
        </p:nvSpPr>
        <p:spPr>
          <a:xfrm>
            <a:off x="244257" y="231731"/>
            <a:ext cx="11553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Baseline</a:t>
            </a:r>
            <a:r>
              <a:rPr lang="zh-CN" altLang="en-US" b="1" dirty="0"/>
              <a:t>：</a:t>
            </a:r>
            <a:r>
              <a:rPr lang="en-US" altLang="zh-CN" b="1" dirty="0"/>
              <a:t>prompt</a:t>
            </a:r>
            <a:r>
              <a:rPr lang="zh-CN" altLang="en-US" b="1" dirty="0"/>
              <a:t>定义</a:t>
            </a:r>
            <a:r>
              <a:rPr lang="en-US" altLang="zh-CN" b="1" dirty="0"/>
              <a:t>T/F/Uncertain+</a:t>
            </a:r>
            <a:r>
              <a:rPr lang="zh-CN" altLang="en-US" b="1" dirty="0"/>
              <a:t>思维链；模型 </a:t>
            </a:r>
            <a:r>
              <a:rPr lang="en-US" altLang="zh-CN" b="1" dirty="0"/>
              <a:t>gpt-5.4-mini)</a:t>
            </a:r>
            <a:r>
              <a:rPr lang="zh-CN" altLang="en-US" b="1" dirty="0"/>
              <a:t>；温度</a:t>
            </a:r>
            <a:r>
              <a:rPr lang="en-US" altLang="zh-CN" b="1" dirty="0"/>
              <a:t>0.3/</a:t>
            </a:r>
            <a:r>
              <a:rPr lang="zh-CN" altLang="en-US" b="1" dirty="0"/>
              <a:t>温度</a:t>
            </a:r>
            <a:r>
              <a:rPr lang="en-US" altLang="zh-CN" b="1" dirty="0"/>
              <a:t>1 </a:t>
            </a:r>
            <a:r>
              <a:rPr lang="en-US" altLang="zh-CN" b="1" dirty="0" err="1"/>
              <a:t>top_p</a:t>
            </a:r>
            <a:r>
              <a:rPr lang="en-US" altLang="zh-CN" b="1" dirty="0"/>
              <a:t> 0.2</a:t>
            </a:r>
            <a:r>
              <a:rPr lang="zh-CN" altLang="en-US" b="1" dirty="0"/>
              <a:t>；输出三元标签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AE9B99-DCAD-5F99-F867-58EE739EB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56" y="1129244"/>
            <a:ext cx="3801296" cy="106155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03F370-350A-218D-2A22-2BAD820CE2B6}"/>
              </a:ext>
            </a:extLst>
          </p:cNvPr>
          <p:cNvSpPr txBox="1"/>
          <p:nvPr/>
        </p:nvSpPr>
        <p:spPr>
          <a:xfrm>
            <a:off x="244257" y="6972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标签定义：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7CBA27-1AE8-D342-A457-5C80837875F1}"/>
              </a:ext>
            </a:extLst>
          </p:cNvPr>
          <p:cNvSpPr txBox="1"/>
          <p:nvPr/>
        </p:nvSpPr>
        <p:spPr>
          <a:xfrm>
            <a:off x="244257" y="2290989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（中</a:t>
            </a:r>
            <a:r>
              <a:rPr lang="en-US" altLang="zh-CN" dirty="0"/>
              <a:t>/</a:t>
            </a:r>
            <a:r>
              <a:rPr lang="zh-CN" altLang="en-US" dirty="0"/>
              <a:t>英）：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71A368-4420-FADE-33E9-82DE11D01415}"/>
              </a:ext>
            </a:extLst>
          </p:cNvPr>
          <p:cNvSpPr txBox="1"/>
          <p:nvPr/>
        </p:nvSpPr>
        <p:spPr>
          <a:xfrm>
            <a:off x="797859" y="63040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准确率：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9DA0D2-9791-9506-5D05-5B07D92F874E}"/>
              </a:ext>
            </a:extLst>
          </p:cNvPr>
          <p:cNvSpPr txBox="1"/>
          <p:nvPr/>
        </p:nvSpPr>
        <p:spPr>
          <a:xfrm>
            <a:off x="797859" y="6669440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温度</a:t>
            </a:r>
            <a:r>
              <a:rPr lang="en-US" altLang="zh-CN" dirty="0"/>
              <a:t>0.3</a:t>
            </a:r>
            <a:r>
              <a:rPr lang="zh-CN" altLang="en-US" dirty="0"/>
              <a:t>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DB53AA9-B347-DC13-DC46-69AEBAB91E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57" y="2814603"/>
            <a:ext cx="6384172" cy="312573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29FA240-EC67-3FF4-DD2E-3014676602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9" y="7111156"/>
            <a:ext cx="4228571" cy="124761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6250F50-A122-A947-7AA3-35572344FDCA}"/>
              </a:ext>
            </a:extLst>
          </p:cNvPr>
          <p:cNvSpPr txBox="1"/>
          <p:nvPr/>
        </p:nvSpPr>
        <p:spPr>
          <a:xfrm>
            <a:off x="780386" y="8431159"/>
            <a:ext cx="31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英文 温度</a:t>
            </a:r>
            <a:r>
              <a:rPr lang="en-US" altLang="zh-CN" dirty="0"/>
              <a:t>0.3 </a:t>
            </a:r>
            <a:r>
              <a:rPr lang="zh-CN" altLang="en-US" dirty="0"/>
              <a:t>：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74D763B-0A53-8638-CDD3-71965E6DCB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9" y="8857319"/>
            <a:ext cx="4171429" cy="1228571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4E12296C-9EDD-571D-28EE-586CEE378E75}"/>
              </a:ext>
            </a:extLst>
          </p:cNvPr>
          <p:cNvSpPr txBox="1"/>
          <p:nvPr/>
        </p:nvSpPr>
        <p:spPr>
          <a:xfrm>
            <a:off x="-303481" y="10794443"/>
            <a:ext cx="679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Gpt</a:t>
            </a:r>
            <a:r>
              <a:rPr lang="zh-CN" altLang="en-US" dirty="0"/>
              <a:t>本体</a:t>
            </a:r>
            <a:r>
              <a:rPr lang="en-US" altLang="zh-CN" dirty="0"/>
              <a:t>/</a:t>
            </a:r>
            <a:r>
              <a:rPr lang="zh-CN" altLang="en-US" dirty="0"/>
              <a:t>温度</a:t>
            </a:r>
            <a:r>
              <a:rPr lang="en-US" altLang="zh-CN" dirty="0"/>
              <a:t>1 </a:t>
            </a:r>
            <a:r>
              <a:rPr lang="en-US" altLang="zh-CN" dirty="0" err="1"/>
              <a:t>topp</a:t>
            </a:r>
            <a:r>
              <a:rPr lang="en-US" altLang="zh-CN" dirty="0"/>
              <a:t> 0.2 </a:t>
            </a:r>
            <a:r>
              <a:rPr lang="zh-CN" altLang="en-US" dirty="0"/>
              <a:t>测出来结果一样，就不贴了，问题如下：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A9738F-7E20-5AE5-F0D7-9BFCD4118CD9}"/>
              </a:ext>
            </a:extLst>
          </p:cNvPr>
          <p:cNvSpPr txBox="1"/>
          <p:nvPr/>
        </p:nvSpPr>
        <p:spPr>
          <a:xfrm>
            <a:off x="7267858" y="900603"/>
            <a:ext cx="72675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1. 没分清主语和说话人/主体 sp_003</a:t>
            </a:r>
          </a:p>
          <a:p>
            <a:r>
              <a:rPr lang="zh-CN" altLang="en-US" dirty="0"/>
              <a:t>2. 模型认为”感觉“不算“断言”，但其实感觉也算一种正向的倾向吧 sp_010</a:t>
            </a:r>
          </a:p>
          <a:p>
            <a:r>
              <a:rPr lang="zh-CN" altLang="en-US" dirty="0"/>
              <a:t>3. 依然是没分清主语和说话人/主体 sp_022</a:t>
            </a:r>
          </a:p>
          <a:p>
            <a:r>
              <a:rPr lang="zh-CN" altLang="en-US" dirty="0"/>
              <a:t>4. 推测也有倾向性。我们要的不是确定陈述，只要是**主体有倾向**即可 sp_023</a:t>
            </a:r>
          </a:p>
          <a:p>
            <a:r>
              <a:rPr lang="zh-CN" altLang="en-US" dirty="0"/>
              <a:t>5. 是有事实根据的 sp_024</a:t>
            </a:r>
          </a:p>
          <a:p>
            <a:r>
              <a:rPr lang="zh-CN" altLang="en-US" dirty="0"/>
              <a:t>6. 倾向性 sp_027</a:t>
            </a:r>
          </a:p>
          <a:p>
            <a:r>
              <a:rPr lang="zh-CN" altLang="en-US" dirty="0"/>
              <a:t>7. 倾向性 sp_031</a:t>
            </a:r>
          </a:p>
          <a:p>
            <a:r>
              <a:rPr lang="zh-CN" altLang="en-US" dirty="0"/>
              <a:t>8. </a:t>
            </a:r>
            <a:r>
              <a:rPr lang="zh-CN" altLang="en-US" dirty="0">
                <a:solidFill>
                  <a:srgbClr val="FF0000"/>
                </a:solidFill>
              </a:rPr>
              <a:t>这条数据绝对有问题 sp_040  0.51</a:t>
            </a:r>
          </a:p>
          <a:p>
            <a:r>
              <a:rPr lang="zh-CN" altLang="en-US" dirty="0"/>
              <a:t>9. 这个真的不好说 sp_041  0.52</a:t>
            </a:r>
          </a:p>
          <a:p>
            <a:r>
              <a:rPr lang="zh-CN" altLang="en-US" dirty="0"/>
              <a:t>10. 这个我觉得也有问题 sp_042 0.51</a:t>
            </a:r>
          </a:p>
          <a:p>
            <a:r>
              <a:rPr lang="zh-CN" altLang="en-US" dirty="0"/>
              <a:t>11. 这个应该算是事实依据 sp_048</a:t>
            </a:r>
          </a:p>
          <a:p>
            <a:r>
              <a:rPr lang="zh-CN" altLang="en-US" dirty="0"/>
              <a:t>10. 倾向性 吹嘘带贬义吧 sp_052</a:t>
            </a:r>
          </a:p>
          <a:p>
            <a:r>
              <a:rPr lang="zh-CN" altLang="en-US" dirty="0"/>
              <a:t>11. 事实依据 sp_056</a:t>
            </a:r>
          </a:p>
          <a:p>
            <a:r>
              <a:rPr lang="zh-CN" altLang="en-US" dirty="0"/>
              <a:t>12. 这个我也觉得不好说 sp_062</a:t>
            </a:r>
          </a:p>
          <a:p>
            <a:r>
              <a:rPr lang="zh-CN" altLang="en-US" dirty="0"/>
              <a:t>13. </a:t>
            </a:r>
            <a:r>
              <a:rPr lang="zh-CN" altLang="en-US" dirty="0">
                <a:solidFill>
                  <a:srgbClr val="FF0000"/>
                </a:solidFill>
              </a:rPr>
              <a:t>这个我也不确定，“梦想”有倾向性吗？ sp_067</a:t>
            </a:r>
          </a:p>
          <a:p>
            <a:r>
              <a:rPr lang="zh-CN" altLang="en-US" dirty="0"/>
              <a:t>14. 事实依据 sp_069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4253A4A-53B9-E785-C20A-425EB03FAD47}"/>
              </a:ext>
            </a:extLst>
          </p:cNvPr>
          <p:cNvSpPr txBox="1"/>
          <p:nvPr/>
        </p:nvSpPr>
        <p:spPr>
          <a:xfrm>
            <a:off x="7267858" y="6488763"/>
            <a:ext cx="7505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Prompt</a:t>
            </a:r>
            <a:r>
              <a:rPr lang="zh-CN" altLang="en-US" dirty="0">
                <a:solidFill>
                  <a:srgbClr val="FF0000"/>
                </a:solidFill>
              </a:rPr>
              <a:t>修改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1. 主体=主语：有倾向即可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2. 主体≠主体：看主语是否是纯猜测：如果是就是uncertain；如果有事实/权威根据就是另外两种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3. 主语不存在：那就是第一种情况</a:t>
            </a:r>
          </a:p>
        </p:txBody>
      </p:sp>
    </p:spTree>
    <p:extLst>
      <p:ext uri="{BB962C8B-B14F-4D97-AF65-F5344CB8AC3E}">
        <p14:creationId xmlns:p14="http://schemas.microsoft.com/office/powerpoint/2010/main" val="19603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06A4-EBB6-F830-9263-B67F29E1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2252F19-1B88-507A-0AB8-353C8D778F92}"/>
              </a:ext>
            </a:extLst>
          </p:cNvPr>
          <p:cNvSpPr txBox="1"/>
          <p:nvPr/>
        </p:nvSpPr>
        <p:spPr>
          <a:xfrm>
            <a:off x="244257" y="231731"/>
            <a:ext cx="13308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第二版测试：</a:t>
            </a:r>
            <a:r>
              <a:rPr lang="en-US" altLang="zh-CN" b="1" dirty="0"/>
              <a:t>prompt</a:t>
            </a:r>
            <a:r>
              <a:rPr lang="zh-CN" altLang="en-US" b="1" dirty="0"/>
              <a:t>定义</a:t>
            </a:r>
            <a:r>
              <a:rPr lang="en-US" altLang="zh-CN" b="1" dirty="0"/>
              <a:t>T/F/</a:t>
            </a:r>
            <a:r>
              <a:rPr lang="en-US" altLang="zh-CN" b="1" dirty="0" err="1"/>
              <a:t>Uncertain+</a:t>
            </a:r>
            <a:r>
              <a:rPr lang="en-US" altLang="zh-CN" b="1" dirty="0" err="1">
                <a:solidFill>
                  <a:srgbClr val="FF0000"/>
                </a:solidFill>
              </a:rPr>
              <a:t>prompt</a:t>
            </a:r>
            <a:r>
              <a:rPr lang="zh-CN" altLang="en-US" b="1" dirty="0">
                <a:solidFill>
                  <a:srgbClr val="FF0000"/>
                </a:solidFill>
              </a:rPr>
              <a:t>修改</a:t>
            </a:r>
            <a:r>
              <a:rPr lang="en-US" altLang="zh-CN" b="1" dirty="0"/>
              <a:t>+</a:t>
            </a:r>
            <a:r>
              <a:rPr lang="zh-CN" altLang="en-US" b="1" dirty="0"/>
              <a:t>思维链；模型 </a:t>
            </a:r>
            <a:r>
              <a:rPr lang="en-US" altLang="zh-CN" b="1" dirty="0"/>
              <a:t>gpt-5.4-mini)</a:t>
            </a:r>
            <a:r>
              <a:rPr lang="zh-CN" altLang="en-US" b="1" dirty="0"/>
              <a:t>；温度</a:t>
            </a:r>
            <a:r>
              <a:rPr lang="en-US" altLang="zh-CN" b="1" dirty="0"/>
              <a:t>0.3/</a:t>
            </a:r>
            <a:r>
              <a:rPr lang="zh-CN" altLang="en-US" b="1" dirty="0"/>
              <a:t>温度</a:t>
            </a:r>
            <a:r>
              <a:rPr lang="en-US" altLang="zh-CN" b="1" dirty="0"/>
              <a:t>1 </a:t>
            </a:r>
            <a:r>
              <a:rPr lang="en-US" altLang="zh-CN" b="1" dirty="0" err="1"/>
              <a:t>top_p</a:t>
            </a:r>
            <a:r>
              <a:rPr lang="en-US" altLang="zh-CN" b="1" dirty="0"/>
              <a:t> 0.2</a:t>
            </a:r>
            <a:r>
              <a:rPr lang="zh-CN" altLang="en-US" b="1" dirty="0"/>
              <a:t>；输出三元标签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45A7BB-30BE-1164-F1C9-D92D31FB2A09}"/>
              </a:ext>
            </a:extLst>
          </p:cNvPr>
          <p:cNvSpPr txBox="1"/>
          <p:nvPr/>
        </p:nvSpPr>
        <p:spPr>
          <a:xfrm>
            <a:off x="244257" y="700314"/>
            <a:ext cx="1846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（中）：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2A0E7C-92BB-9AB5-5458-CC0E609E2D03}"/>
              </a:ext>
            </a:extLst>
          </p:cNvPr>
          <p:cNvSpPr txBox="1"/>
          <p:nvPr/>
        </p:nvSpPr>
        <p:spPr>
          <a:xfrm>
            <a:off x="7827309" y="7599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准确率：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968599-F57E-B0AD-2B6B-45801F99ACD7}"/>
              </a:ext>
            </a:extLst>
          </p:cNvPr>
          <p:cNvSpPr txBox="1"/>
          <p:nvPr/>
        </p:nvSpPr>
        <p:spPr>
          <a:xfrm>
            <a:off x="7323137" y="1462557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温度</a:t>
            </a:r>
            <a:r>
              <a:rPr lang="en-US" altLang="zh-CN" dirty="0"/>
              <a:t>1 top p 1</a:t>
            </a:r>
            <a:r>
              <a:rPr lang="zh-CN" altLang="en-US" dirty="0"/>
              <a:t>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9EC876-FC38-FE82-A851-1AC2E78D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0272" y="1200901"/>
            <a:ext cx="7349971" cy="49567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996ED25-A0FE-C7D9-2810-AB4230A1B324}"/>
              </a:ext>
            </a:extLst>
          </p:cNvPr>
          <p:cNvSpPr txBox="1"/>
          <p:nvPr/>
        </p:nvSpPr>
        <p:spPr>
          <a:xfrm>
            <a:off x="7513637" y="4805426"/>
            <a:ext cx="71056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sp_001</a:t>
            </a:r>
            <a:r>
              <a:rPr lang="zh-CN" altLang="en-US" dirty="0"/>
              <a:t>：有隐含的确定的倾向</a:t>
            </a:r>
          </a:p>
          <a:p>
            <a:r>
              <a:rPr lang="en-US" altLang="zh-CN" dirty="0"/>
              <a:t>sp_003</a:t>
            </a:r>
            <a:r>
              <a:rPr lang="zh-CN" altLang="en-US" dirty="0"/>
              <a:t>：未正确识别事实依据</a:t>
            </a:r>
          </a:p>
          <a:p>
            <a:r>
              <a:rPr lang="en-US" altLang="zh-CN" dirty="0"/>
              <a:t>sp_010</a:t>
            </a:r>
            <a:r>
              <a:rPr lang="zh-CN" altLang="en-US" dirty="0"/>
              <a:t>：还是没理解任务的定义。说话人的倾向就是我们要的，这种情况下不需要考虑证据</a:t>
            </a:r>
          </a:p>
          <a:p>
            <a:r>
              <a:rPr lang="en-US" altLang="zh-CN" dirty="0"/>
              <a:t>sp_022</a:t>
            </a:r>
            <a:r>
              <a:rPr lang="zh-CN" altLang="en-US" dirty="0"/>
              <a:t>：有隐含的不确定的倾向</a:t>
            </a:r>
          </a:p>
          <a:p>
            <a:r>
              <a:rPr lang="en-US" altLang="zh-CN" dirty="0"/>
              <a:t>sp_042</a:t>
            </a:r>
            <a:r>
              <a:rPr lang="zh-CN" altLang="en-US" dirty="0"/>
              <a:t>：数据有问题</a:t>
            </a:r>
          </a:p>
          <a:p>
            <a:r>
              <a:rPr lang="en-US" altLang="zh-CN" dirty="0"/>
              <a:t>sp_052</a:t>
            </a:r>
            <a:r>
              <a:rPr lang="zh-CN" altLang="en-US" dirty="0"/>
              <a:t>：有倾向啊，吹嘘有贬义</a:t>
            </a:r>
          </a:p>
          <a:p>
            <a:r>
              <a:rPr lang="en-US" altLang="zh-CN" dirty="0"/>
              <a:t>sp_067</a:t>
            </a:r>
            <a:r>
              <a:rPr lang="zh-CN" altLang="en-US" dirty="0"/>
              <a:t>：这个我也不确定</a:t>
            </a:r>
          </a:p>
          <a:p>
            <a:r>
              <a:rPr lang="en-US" altLang="zh-CN" dirty="0"/>
              <a:t>sp_069</a:t>
            </a:r>
            <a:r>
              <a:rPr lang="zh-CN" altLang="en-US" dirty="0"/>
              <a:t>：这个思维链输出的有问题呢，感觉是左右脑互搏了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742D5965-E618-988C-F72D-46D84E559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469" y="1990738"/>
            <a:ext cx="6215780" cy="167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4440428-42E1-6F36-5005-2EF8272DD7EC}"/>
              </a:ext>
            </a:extLst>
          </p:cNvPr>
          <p:cNvSpPr txBox="1"/>
          <p:nvPr/>
        </p:nvSpPr>
        <p:spPr>
          <a:xfrm>
            <a:off x="7513637" y="4155786"/>
            <a:ext cx="2303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上升将近十个百分点</a:t>
            </a:r>
          </a:p>
        </p:txBody>
      </p:sp>
    </p:spTree>
    <p:extLst>
      <p:ext uri="{BB962C8B-B14F-4D97-AF65-F5344CB8AC3E}">
        <p14:creationId xmlns:p14="http://schemas.microsoft.com/office/powerpoint/2010/main" val="278534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A80DC1F-F27C-BB2E-61F0-771A2E939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79" y="1129244"/>
            <a:ext cx="4842547" cy="38475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7F43402-EC63-0367-D8D5-577E7ED95D6E}"/>
              </a:ext>
            </a:extLst>
          </p:cNvPr>
          <p:cNvSpPr txBox="1"/>
          <p:nvPr/>
        </p:nvSpPr>
        <p:spPr>
          <a:xfrm>
            <a:off x="244257" y="231731"/>
            <a:ext cx="767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第四</a:t>
            </a:r>
            <a:r>
              <a:rPr lang="en-US" altLang="zh-CN" b="1" dirty="0"/>
              <a:t>/</a:t>
            </a:r>
            <a:r>
              <a:rPr lang="zh-CN" altLang="en-US" b="1" dirty="0"/>
              <a:t>五版测试：第一轮对话提取有用信息</a:t>
            </a:r>
            <a:r>
              <a:rPr lang="en-US" altLang="zh-CN" b="1" dirty="0"/>
              <a:t>+</a:t>
            </a:r>
            <a:r>
              <a:rPr lang="zh-CN" altLang="en-US" b="1" dirty="0"/>
              <a:t>第二轮对话利用有用信息判断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9B14A4-ACC7-9DC5-2251-17A5D108B4EC}"/>
              </a:ext>
            </a:extLst>
          </p:cNvPr>
          <p:cNvSpPr txBox="1"/>
          <p:nvPr/>
        </p:nvSpPr>
        <p:spPr>
          <a:xfrm>
            <a:off x="244257" y="700314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（第一轮）：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CAF740-9EBA-8020-63F1-B7245C762122}"/>
              </a:ext>
            </a:extLst>
          </p:cNvPr>
          <p:cNvSpPr txBox="1"/>
          <p:nvPr/>
        </p:nvSpPr>
        <p:spPr>
          <a:xfrm>
            <a:off x="244256" y="5138702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（第二轮）：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0C58828-CDDC-C5E3-DB14-768A59A1E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56" y="5706595"/>
            <a:ext cx="6831705" cy="451587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63542D-B914-F328-8167-9A63901834F2}"/>
              </a:ext>
            </a:extLst>
          </p:cNvPr>
          <p:cNvSpPr txBox="1"/>
          <p:nvPr/>
        </p:nvSpPr>
        <p:spPr>
          <a:xfrm>
            <a:off x="7827309" y="75991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第四版准确率：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DA0FE8-2BC5-85CF-7726-960A4A83C2D8}"/>
              </a:ext>
            </a:extLst>
          </p:cNvPr>
          <p:cNvSpPr txBox="1"/>
          <p:nvPr/>
        </p:nvSpPr>
        <p:spPr>
          <a:xfrm>
            <a:off x="7323137" y="1462557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温度</a:t>
            </a:r>
            <a:r>
              <a:rPr lang="en-US" altLang="zh-CN" dirty="0"/>
              <a:t>1 top p 1</a:t>
            </a:r>
            <a:r>
              <a:rPr lang="zh-CN" altLang="en-US" dirty="0"/>
              <a:t>：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7353BB6-1664-D68B-D195-CE36D055F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398" y="1915582"/>
            <a:ext cx="4228571" cy="119047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DB86C2E-C3D0-9BD9-A3A6-03742E66F25C}"/>
              </a:ext>
            </a:extLst>
          </p:cNvPr>
          <p:cNvSpPr txBox="1"/>
          <p:nvPr/>
        </p:nvSpPr>
        <p:spPr>
          <a:xfrm>
            <a:off x="7229389" y="3492121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上升将近三个百分点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23CA53-D797-F657-7BDA-7AAE96399A17}"/>
              </a:ext>
            </a:extLst>
          </p:cNvPr>
          <p:cNvSpPr txBox="1"/>
          <p:nvPr/>
        </p:nvSpPr>
        <p:spPr>
          <a:xfrm>
            <a:off x="7287394" y="4207298"/>
            <a:ext cx="12737782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第五版错误：</a:t>
            </a:r>
            <a:endParaRPr lang="en-US" altLang="zh-CN" dirty="0"/>
          </a:p>
          <a:p>
            <a:r>
              <a:rPr lang="en-US" altLang="zh-CN" dirty="0"/>
              <a:t>sp_001</a:t>
            </a:r>
            <a:r>
              <a:rPr lang="zh-CN" altLang="en-US" dirty="0"/>
              <a:t>：否定了老张的注意不就是否定命题本身吗？我觉得我们讨论的判断的</a:t>
            </a:r>
            <a:r>
              <a:rPr lang="en-US" altLang="zh-CN" dirty="0"/>
              <a:t>pipeline</a:t>
            </a:r>
            <a:r>
              <a:rPr lang="zh-CN" altLang="en-US" dirty="0"/>
              <a:t>有问题，模型现在忽略了主体的看法？</a:t>
            </a:r>
            <a:endParaRPr lang="en-US" altLang="zh-CN" dirty="0"/>
          </a:p>
          <a:p>
            <a:r>
              <a:rPr lang="en-US" altLang="zh-CN" dirty="0"/>
              <a:t>sp_002</a:t>
            </a:r>
            <a:r>
              <a:rPr lang="zh-CN" altLang="en-US" dirty="0"/>
              <a:t>：错误地认为也是主体的态度，</a:t>
            </a:r>
            <a:r>
              <a:rPr lang="zh-CN" altLang="en-US" dirty="0">
                <a:solidFill>
                  <a:srgbClr val="FF0000"/>
                </a:solidFill>
              </a:rPr>
              <a:t>模型现在并没有利用好</a:t>
            </a:r>
            <a:r>
              <a:rPr lang="en-US" altLang="zh-CN" dirty="0" err="1">
                <a:solidFill>
                  <a:srgbClr val="FF0000"/>
                </a:solidFill>
              </a:rPr>
              <a:t>attitude_predicate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sp_003</a:t>
            </a:r>
            <a:r>
              <a:rPr lang="zh-CN" altLang="en-US" dirty="0"/>
              <a:t>：这个完全是主体识别错误，</a:t>
            </a:r>
            <a:r>
              <a:rPr lang="zh-CN" altLang="en-US" dirty="0">
                <a:solidFill>
                  <a:srgbClr val="FF0000"/>
                </a:solidFill>
              </a:rPr>
              <a:t>我觉得我们第二轮不给原题</a:t>
            </a:r>
            <a:r>
              <a:rPr lang="zh-CN" altLang="en-US" dirty="0"/>
              <a:t>（或者</a:t>
            </a:r>
            <a:r>
              <a:rPr lang="zh-CN" altLang="en-US" dirty="0">
                <a:solidFill>
                  <a:srgbClr val="FF0000"/>
                </a:solidFill>
              </a:rPr>
              <a:t>让模型重点关注抽取结果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sp_011</a:t>
            </a:r>
            <a:r>
              <a:rPr lang="zh-CN" altLang="en-US" dirty="0"/>
              <a:t>：主体识别错误</a:t>
            </a:r>
            <a:endParaRPr lang="en-US" altLang="zh-CN" dirty="0"/>
          </a:p>
          <a:p>
            <a:r>
              <a:rPr lang="en-US" altLang="zh-CN" dirty="0"/>
              <a:t>sp_022</a:t>
            </a:r>
            <a:r>
              <a:rPr lang="zh-CN" altLang="en-US" dirty="0"/>
              <a:t>：</a:t>
            </a:r>
            <a:r>
              <a:rPr lang="en-US" altLang="zh-CN" dirty="0"/>
              <a:t>basis</a:t>
            </a:r>
            <a:r>
              <a:rPr lang="zh-CN" altLang="en-US" dirty="0"/>
              <a:t>提取错了，我觉得</a:t>
            </a:r>
            <a:r>
              <a:rPr lang="en-US" altLang="zh-CN" dirty="0"/>
              <a:t>basis</a:t>
            </a:r>
            <a:r>
              <a:rPr lang="zh-CN" altLang="en-US" dirty="0"/>
              <a:t>还要强调一下客观性与权威性等特点</a:t>
            </a:r>
            <a:endParaRPr lang="en-US" altLang="zh-CN" dirty="0"/>
          </a:p>
          <a:p>
            <a:r>
              <a:rPr lang="en-US" altLang="zh-CN" dirty="0"/>
              <a:t>sp_027</a:t>
            </a:r>
            <a:r>
              <a:rPr lang="zh-CN" altLang="en-US" dirty="0"/>
              <a:t>：没利用好抽取信息</a:t>
            </a:r>
            <a:endParaRPr lang="en-US" altLang="zh-CN" dirty="0"/>
          </a:p>
          <a:p>
            <a:r>
              <a:rPr lang="en-US" altLang="zh-CN" dirty="0"/>
              <a:t>sp_031</a:t>
            </a:r>
            <a:r>
              <a:rPr lang="zh-CN" altLang="en-US" dirty="0"/>
              <a:t>：第二轮</a:t>
            </a:r>
            <a:r>
              <a:rPr lang="en-US" altLang="zh-CN" dirty="0"/>
              <a:t>prompt</a:t>
            </a:r>
            <a:r>
              <a:rPr lang="zh-CN" altLang="en-US" dirty="0"/>
              <a:t>并未规定</a:t>
            </a:r>
            <a:r>
              <a:rPr lang="en-US" altLang="zh-CN" dirty="0"/>
              <a:t>subject type</a:t>
            </a:r>
            <a:r>
              <a:rPr lang="zh-CN" altLang="en-US" dirty="0"/>
              <a:t>是无的时候该怎么处理，主要问题应该是这个</a:t>
            </a:r>
            <a:endParaRPr lang="en-US" altLang="zh-CN" dirty="0"/>
          </a:p>
          <a:p>
            <a:r>
              <a:rPr lang="en-US" altLang="zh-CN" dirty="0"/>
              <a:t>sp_040</a:t>
            </a:r>
            <a:r>
              <a:rPr lang="zh-CN" altLang="en-US" dirty="0"/>
              <a:t>：数据有问题</a:t>
            </a:r>
            <a:endParaRPr lang="en-US" altLang="zh-CN" dirty="0"/>
          </a:p>
          <a:p>
            <a:r>
              <a:rPr lang="en-US" altLang="zh-CN" dirty="0"/>
              <a:t>sp_042</a:t>
            </a:r>
            <a:r>
              <a:rPr lang="zh-CN" altLang="en-US" dirty="0"/>
              <a:t>：数据也有问题</a:t>
            </a:r>
            <a:endParaRPr lang="en-US" altLang="zh-CN" dirty="0"/>
          </a:p>
          <a:p>
            <a:r>
              <a:rPr lang="en-US" altLang="zh-CN" dirty="0"/>
              <a:t>sp_048</a:t>
            </a:r>
            <a:r>
              <a:rPr lang="zh-CN" altLang="en-US" dirty="0"/>
              <a:t>：依然是没利用好提取信息</a:t>
            </a:r>
            <a:endParaRPr lang="en-US" altLang="zh-CN" dirty="0"/>
          </a:p>
          <a:p>
            <a:r>
              <a:rPr lang="en-US" altLang="zh-CN" dirty="0"/>
              <a:t>sp_052</a:t>
            </a:r>
            <a:r>
              <a:rPr lang="zh-CN" altLang="en-US" dirty="0"/>
              <a:t>：未意识到吹嘘带贬义（</a:t>
            </a:r>
            <a:r>
              <a:rPr lang="zh-CN" altLang="en-US" dirty="0">
                <a:solidFill>
                  <a:srgbClr val="FF0000"/>
                </a:solidFill>
              </a:rPr>
              <a:t>第二轮</a:t>
            </a:r>
            <a:r>
              <a:rPr lang="en-US" altLang="zh-CN" dirty="0">
                <a:solidFill>
                  <a:srgbClr val="FF0000"/>
                </a:solidFill>
              </a:rPr>
              <a:t>prompt</a:t>
            </a:r>
            <a:r>
              <a:rPr lang="zh-CN" altLang="en-US" dirty="0">
                <a:solidFill>
                  <a:srgbClr val="FF0000"/>
                </a:solidFill>
              </a:rPr>
              <a:t>未定义如何根据倾向判断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Sp_067</a:t>
            </a:r>
            <a:r>
              <a:rPr lang="zh-CN" altLang="en-US" dirty="0"/>
              <a:t>： “梦想”有倾向性吗？</a:t>
            </a:r>
            <a:endParaRPr lang="en-US" altLang="zh-CN" dirty="0"/>
          </a:p>
          <a:p>
            <a:r>
              <a:rPr lang="en-US" altLang="zh-CN" dirty="0"/>
              <a:t>sp_069</a:t>
            </a:r>
            <a:r>
              <a:rPr lang="zh-CN" altLang="en-US" dirty="0"/>
              <a:t>：</a:t>
            </a:r>
            <a:r>
              <a:rPr lang="en-US" altLang="zh-CN" dirty="0"/>
              <a:t>basis</a:t>
            </a:r>
            <a:r>
              <a:rPr lang="zh-CN" altLang="en-US" dirty="0"/>
              <a:t>提取得很对，但是没利用好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总体来看：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没利用好抽取信息</a:t>
            </a:r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zh-CN" altLang="en-US" dirty="0"/>
              <a:t>依然是对</a:t>
            </a:r>
            <a:r>
              <a:rPr lang="en-US" altLang="zh-CN" dirty="0" err="1"/>
              <a:t>attitude_predicate</a:t>
            </a:r>
            <a:r>
              <a:rPr lang="zh-CN" altLang="en-US" dirty="0"/>
              <a:t>的倾向性理解欠缺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第二轮不给原题，也就是从</a:t>
            </a:r>
            <a:r>
              <a:rPr lang="en-US" altLang="zh-CN" dirty="0"/>
              <a:t>MT</a:t>
            </a:r>
            <a:r>
              <a:rPr lang="zh-CN" altLang="en-US" dirty="0"/>
              <a:t>→</a:t>
            </a:r>
            <a:r>
              <a:rPr lang="en-US" altLang="zh-CN" dirty="0"/>
              <a:t>2-stage pipeline</a:t>
            </a:r>
          </a:p>
          <a:p>
            <a:pPr marL="342900" indent="-342900">
              <a:buAutoNum type="arabicPeriod"/>
            </a:pPr>
            <a:r>
              <a:rPr lang="zh-CN" altLang="en-US" dirty="0"/>
              <a:t>第二轮</a:t>
            </a:r>
            <a:r>
              <a:rPr lang="en-US" altLang="zh-CN" dirty="0"/>
              <a:t>prompt</a:t>
            </a:r>
            <a:r>
              <a:rPr lang="zh-CN" altLang="en-US" dirty="0"/>
              <a:t>定义倾向判断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6599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EEA97-CE1D-508C-2ABA-F480875FB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E4097EF-7B35-D214-567D-CA19C1D1C64A}"/>
              </a:ext>
            </a:extLst>
          </p:cNvPr>
          <p:cNvSpPr txBox="1"/>
          <p:nvPr/>
        </p:nvSpPr>
        <p:spPr>
          <a:xfrm>
            <a:off x="244257" y="231731"/>
            <a:ext cx="12987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第六版测试：第一轮对话信息抽取</a:t>
            </a:r>
            <a:r>
              <a:rPr lang="en-US" altLang="zh-CN" b="1" dirty="0"/>
              <a:t>+</a:t>
            </a:r>
            <a:r>
              <a:rPr lang="zh-CN" altLang="en-US" b="1" dirty="0"/>
              <a:t>中间插入</a:t>
            </a:r>
            <a:r>
              <a:rPr lang="zh-CN" altLang="en-US" b="1" dirty="0">
                <a:solidFill>
                  <a:srgbClr val="FF0000"/>
                </a:solidFill>
              </a:rPr>
              <a:t>信息利用专家建议</a:t>
            </a:r>
            <a:r>
              <a:rPr lang="en-US" altLang="zh-CN" b="1" dirty="0"/>
              <a:t>+</a:t>
            </a:r>
            <a:r>
              <a:rPr lang="zh-CN" altLang="en-US" b="1" dirty="0"/>
              <a:t>第二轮对话</a:t>
            </a:r>
            <a:r>
              <a:rPr lang="zh-CN" altLang="en-US" b="1" dirty="0">
                <a:solidFill>
                  <a:srgbClr val="FF0000"/>
                </a:solidFill>
              </a:rPr>
              <a:t>以抽取信息和专家建议为主，原问题为辅助</a:t>
            </a:r>
            <a:r>
              <a:rPr lang="zh-CN" altLang="en-US" b="1" dirty="0"/>
              <a:t>判断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08A736-8A80-4D21-10EB-374449A29BBC}"/>
              </a:ext>
            </a:extLst>
          </p:cNvPr>
          <p:cNvSpPr txBox="1"/>
          <p:nvPr/>
        </p:nvSpPr>
        <p:spPr>
          <a:xfrm>
            <a:off x="244257" y="700314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（第一轮）：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66AF291-CE1C-AFBE-C148-9607B709C174}"/>
              </a:ext>
            </a:extLst>
          </p:cNvPr>
          <p:cNvSpPr txBox="1"/>
          <p:nvPr/>
        </p:nvSpPr>
        <p:spPr>
          <a:xfrm>
            <a:off x="-2564239" y="11200534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（第二轮）：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599CD8-51C0-F3B2-AB7B-2CF63F7FA1FC}"/>
              </a:ext>
            </a:extLst>
          </p:cNvPr>
          <p:cNvSpPr txBox="1"/>
          <p:nvPr/>
        </p:nvSpPr>
        <p:spPr>
          <a:xfrm>
            <a:off x="7827309" y="75991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准确率：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1A27CE-1B67-52A8-92C4-6F6FEAA994BD}"/>
              </a:ext>
            </a:extLst>
          </p:cNvPr>
          <p:cNvSpPr txBox="1"/>
          <p:nvPr/>
        </p:nvSpPr>
        <p:spPr>
          <a:xfrm>
            <a:off x="7551737" y="1288093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温度</a:t>
            </a:r>
            <a:r>
              <a:rPr lang="en-US" altLang="zh-CN" dirty="0"/>
              <a:t>1 top p 1</a:t>
            </a:r>
            <a:r>
              <a:rPr lang="zh-CN" altLang="en-US" dirty="0"/>
              <a:t>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506228-1CC2-3306-7108-BF4905332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84" y="754808"/>
            <a:ext cx="4364489" cy="456856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C799114-8BC4-B7BE-3EF6-BCDBE8416D76}"/>
              </a:ext>
            </a:extLst>
          </p:cNvPr>
          <p:cNvSpPr txBox="1"/>
          <p:nvPr/>
        </p:nvSpPr>
        <p:spPr>
          <a:xfrm>
            <a:off x="-2564239" y="609869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专家建议：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FA95BD6-37F2-37BF-B6A6-EA2E96BAA4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66515" y="11979489"/>
            <a:ext cx="8762515" cy="6858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A90A918-C83F-4523-2A86-B8408564E0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5411" y="5634677"/>
            <a:ext cx="7958552" cy="480039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92A7152-15C7-F4AE-EFBF-5415A3DD7F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937" y="1816274"/>
            <a:ext cx="6697509" cy="235567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DAD92D21-D2CC-95F6-713B-632F53D5008D}"/>
              </a:ext>
            </a:extLst>
          </p:cNvPr>
          <p:cNvSpPr txBox="1"/>
          <p:nvPr/>
        </p:nvSpPr>
        <p:spPr>
          <a:xfrm>
            <a:off x="7627937" y="4501771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输出了太多</a:t>
            </a:r>
            <a:r>
              <a:rPr lang="en-US" altLang="zh-CN" dirty="0">
                <a:solidFill>
                  <a:srgbClr val="FF0000"/>
                </a:solidFill>
              </a:rPr>
              <a:t>uncertain</a:t>
            </a:r>
            <a:r>
              <a:rPr lang="zh-CN" altLang="en-US" dirty="0">
                <a:solidFill>
                  <a:srgbClr val="FF0000"/>
                </a:solidFill>
              </a:rPr>
              <a:t>！！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EC4682-FBF8-C4C2-B794-455573FBA018}"/>
              </a:ext>
            </a:extLst>
          </p:cNvPr>
          <p:cNvSpPr/>
          <p:nvPr/>
        </p:nvSpPr>
        <p:spPr>
          <a:xfrm>
            <a:off x="7627937" y="3265715"/>
            <a:ext cx="6457343" cy="9062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8A48C3-1368-7679-EF8E-2A4462863E06}"/>
              </a:ext>
            </a:extLst>
          </p:cNvPr>
          <p:cNvSpPr txBox="1"/>
          <p:nvPr/>
        </p:nvSpPr>
        <p:spPr>
          <a:xfrm>
            <a:off x="7551737" y="5093535"/>
            <a:ext cx="84720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通过分析我们发现主要问题如下：</a:t>
            </a:r>
            <a:br>
              <a:rPr lang="en-US" altLang="zh-CN" dirty="0"/>
            </a:br>
            <a:r>
              <a:rPr lang="en-US" altLang="zh-CN" dirty="0"/>
              <a:t>1. </a:t>
            </a:r>
            <a:r>
              <a:rPr lang="zh-CN" altLang="en-US" dirty="0"/>
              <a:t>第三方</a:t>
            </a:r>
            <a:r>
              <a:rPr lang="en-US" altLang="zh-CN" dirty="0"/>
              <a:t>+</a:t>
            </a:r>
            <a:r>
              <a:rPr lang="zh-CN" altLang="en-US" dirty="0"/>
              <a:t>无</a:t>
            </a:r>
            <a:r>
              <a:rPr lang="en-US" altLang="zh-CN" dirty="0"/>
              <a:t>basis</a:t>
            </a:r>
            <a:r>
              <a:rPr lang="zh-CN" altLang="en-US" dirty="0"/>
              <a:t>的场景下，无法理解到</a:t>
            </a:r>
            <a:r>
              <a:rPr lang="zh-CN" altLang="en-US" dirty="0">
                <a:solidFill>
                  <a:srgbClr val="FF0000"/>
                </a:solidFill>
              </a:rPr>
              <a:t>说话人对于假设的明显倾向</a:t>
            </a:r>
            <a:r>
              <a:rPr lang="zh-CN" altLang="en-US" dirty="0"/>
              <a:t>，很明显的都理解不到（</a:t>
            </a:r>
            <a:r>
              <a:rPr lang="en-US" altLang="zh-CN" dirty="0"/>
              <a:t>sp_005</a:t>
            </a:r>
            <a:r>
              <a:rPr lang="zh-CN" altLang="en-US" dirty="0"/>
              <a:t>） </a:t>
            </a:r>
            <a:endParaRPr lang="en-US" altLang="zh-CN" dirty="0"/>
          </a:p>
          <a:p>
            <a:r>
              <a:rPr lang="en-US" altLang="zh-CN" dirty="0"/>
              <a:t>2. </a:t>
            </a:r>
            <a:r>
              <a:rPr lang="zh-CN" altLang="en-US" dirty="0"/>
              <a:t>在</a:t>
            </a:r>
            <a:r>
              <a:rPr lang="en-US" altLang="zh-CN" dirty="0"/>
              <a:t>subject type</a:t>
            </a:r>
            <a:r>
              <a:rPr lang="zh-CN" altLang="en-US" dirty="0"/>
              <a:t>不是第三方的情况下，也无法输出正确的倾向，感觉是</a:t>
            </a:r>
            <a:r>
              <a:rPr lang="zh-CN" altLang="en-US" dirty="0">
                <a:solidFill>
                  <a:srgbClr val="FF0000"/>
                </a:solidFill>
              </a:rPr>
              <a:t>没有理解到任务</a:t>
            </a:r>
            <a:r>
              <a:rPr lang="zh-CN" altLang="en-US" dirty="0"/>
              <a:t>（</a:t>
            </a:r>
            <a:r>
              <a:rPr lang="en-US" altLang="zh-CN" dirty="0"/>
              <a:t>sp_010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考虑把</a:t>
            </a:r>
            <a:r>
              <a:rPr lang="zh-CN" altLang="en-US" dirty="0">
                <a:solidFill>
                  <a:srgbClr val="FF0000"/>
                </a:solidFill>
              </a:rPr>
              <a:t>更细粒度地定义“倾向“：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b="1" dirty="0"/>
              <a:t>我们始终判断的是说话人的倾向，但这个倾向有两种实现方式：当命题态度直接由说话人发出时，看“明示倾向”；当命题态度表面上由第三方发出时，看说话人在转述中“额外带出的隐含倾向”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97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AE191CC-2105-EB02-6BE9-5270CE84C0B3}"/>
              </a:ext>
            </a:extLst>
          </p:cNvPr>
          <p:cNvSpPr txBox="1"/>
          <p:nvPr/>
        </p:nvSpPr>
        <p:spPr>
          <a:xfrm>
            <a:off x="244257" y="231731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第七版测试：更细粒度的</a:t>
            </a:r>
            <a:r>
              <a:rPr lang="zh-CN" altLang="en-US" b="1" dirty="0">
                <a:solidFill>
                  <a:srgbClr val="FF0000"/>
                </a:solidFill>
              </a:rPr>
              <a:t>倾向定义与判断准则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B54D70-C7E6-7EE4-684F-F7702A496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988" y="601063"/>
            <a:ext cx="3724800" cy="40148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FDF6B15-F0C3-63BE-3851-32BB442A5C98}"/>
              </a:ext>
            </a:extLst>
          </p:cNvPr>
          <p:cNvSpPr txBox="1"/>
          <p:nvPr/>
        </p:nvSpPr>
        <p:spPr>
          <a:xfrm>
            <a:off x="-176657" y="785729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（第一轮）：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CD282F-4B7C-1CAA-D5BA-CC4233B222E5}"/>
              </a:ext>
            </a:extLst>
          </p:cNvPr>
          <p:cNvSpPr txBox="1"/>
          <p:nvPr/>
        </p:nvSpPr>
        <p:spPr>
          <a:xfrm>
            <a:off x="308251" y="47198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专家建议：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A8DB783-D133-5F20-29A7-40B70E76E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079" y="4800622"/>
            <a:ext cx="5532261" cy="333139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C71D7CE-EA18-4459-D2DB-308E6D450BB0}"/>
              </a:ext>
            </a:extLst>
          </p:cNvPr>
          <p:cNvSpPr txBox="1"/>
          <p:nvPr/>
        </p:nvSpPr>
        <p:spPr>
          <a:xfrm>
            <a:off x="-3268245" y="8734729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（第二轮）：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53BC7D3-091F-A48A-6FA0-932B3C5EE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7100" y="8316686"/>
            <a:ext cx="6818176" cy="551490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7DC2473-8883-F6FA-1BA7-DCACFDCCC01A}"/>
              </a:ext>
            </a:extLst>
          </p:cNvPr>
          <p:cNvSpPr txBox="1"/>
          <p:nvPr/>
        </p:nvSpPr>
        <p:spPr>
          <a:xfrm>
            <a:off x="7031537" y="601063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温度</a:t>
            </a:r>
            <a:r>
              <a:rPr lang="en-US" altLang="zh-CN" dirty="0"/>
              <a:t>1 top p 1</a:t>
            </a:r>
            <a:r>
              <a:rPr lang="zh-CN" altLang="en-US" dirty="0"/>
              <a:t>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A299B2-D097-CA1D-09B6-DD7A7BEB7628}"/>
              </a:ext>
            </a:extLst>
          </p:cNvPr>
          <p:cNvSpPr txBox="1"/>
          <p:nvPr/>
        </p:nvSpPr>
        <p:spPr>
          <a:xfrm>
            <a:off x="6693182" y="2830308"/>
            <a:ext cx="787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目前排名第二，而且分析正确案例，效果很好，与我们的</a:t>
            </a:r>
            <a:r>
              <a:rPr lang="en-US" altLang="zh-CN" dirty="0">
                <a:solidFill>
                  <a:srgbClr val="FF0000"/>
                </a:solidFill>
              </a:rPr>
              <a:t>intention</a:t>
            </a:r>
            <a:r>
              <a:rPr lang="zh-CN" altLang="en-US" dirty="0">
                <a:solidFill>
                  <a:srgbClr val="FF0000"/>
                </a:solidFill>
              </a:rPr>
              <a:t>是</a:t>
            </a:r>
            <a:r>
              <a:rPr lang="en-US" altLang="zh-CN" dirty="0">
                <a:solidFill>
                  <a:srgbClr val="FF0000"/>
                </a:solidFill>
              </a:rPr>
              <a:t>align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DE1E90F-D10F-DF05-997E-9E7ED70399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462" y="1181463"/>
            <a:ext cx="4761905" cy="148571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6298FEB-8F16-5601-36BF-302C7E12BBD6}"/>
              </a:ext>
            </a:extLst>
          </p:cNvPr>
          <p:cNvSpPr txBox="1"/>
          <p:nvPr/>
        </p:nvSpPr>
        <p:spPr>
          <a:xfrm>
            <a:off x="7309350" y="3416201"/>
            <a:ext cx="847203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通过分析我们发现主要问题如下：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attitude_predicate</a:t>
            </a:r>
            <a:r>
              <a:rPr lang="zh-CN" altLang="en-US" dirty="0">
                <a:solidFill>
                  <a:srgbClr val="FF0000"/>
                </a:solidFill>
              </a:rPr>
              <a:t>提取错误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en-US" altLang="zh-CN" dirty="0" err="1">
                <a:solidFill>
                  <a:srgbClr val="FF0000"/>
                </a:solidFill>
              </a:rPr>
              <a:t>attitude_hint</a:t>
            </a:r>
            <a:r>
              <a:rPr lang="zh-CN" altLang="en-US" dirty="0">
                <a:solidFill>
                  <a:srgbClr val="FF0000"/>
                </a:solidFill>
              </a:rPr>
              <a:t>提取错误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3. basis</a:t>
            </a:r>
            <a:r>
              <a:rPr lang="zh-CN" altLang="en-US" dirty="0">
                <a:solidFill>
                  <a:srgbClr val="FF0000"/>
                </a:solidFill>
              </a:rPr>
              <a:t>提取错误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这三点都表明我们这个方案鲁棒性不好，太依赖第一轮的信息提取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考虑把抽取信息放到固定模板中作为</a:t>
            </a:r>
            <a:r>
              <a:rPr lang="en-US" altLang="zh-CN" dirty="0">
                <a:solidFill>
                  <a:srgbClr val="FF0000"/>
                </a:solidFill>
              </a:rPr>
              <a:t>query</a:t>
            </a:r>
            <a:r>
              <a:rPr lang="zh-CN" altLang="en-US" dirty="0">
                <a:solidFill>
                  <a:srgbClr val="FF0000"/>
                </a:solidFill>
              </a:rPr>
              <a:t>，并结合原题喂给模型，让模型判断</a:t>
            </a:r>
            <a:r>
              <a:rPr lang="en-US" altLang="zh-CN" dirty="0">
                <a:solidFill>
                  <a:srgbClr val="FF0000"/>
                </a:solidFill>
              </a:rPr>
              <a:t>query </a:t>
            </a:r>
            <a:r>
              <a:rPr lang="zh-CN" altLang="en-US" dirty="0">
                <a:solidFill>
                  <a:srgbClr val="FF0000"/>
                </a:solidFill>
              </a:rPr>
              <a:t>是否正确（多个模板，多个句式，提高鲁棒性）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sp_003 </a:t>
            </a:r>
            <a:r>
              <a:rPr lang="zh-CN" altLang="en-US" dirty="0"/>
              <a:t>这是个特殊例子，模型没有正确认识到后半句话也是第三方的推测，而不是事实。这应该是句式问题导致的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sp_026 </a:t>
            </a:r>
            <a:r>
              <a:rPr lang="zh-CN" altLang="en-US" dirty="0"/>
              <a:t>未识别到</a:t>
            </a:r>
            <a:r>
              <a:rPr lang="en-US" altLang="zh-CN" dirty="0"/>
              <a:t>basis</a:t>
            </a:r>
            <a:r>
              <a:rPr lang="zh-CN" altLang="en-US" dirty="0"/>
              <a:t>（变色）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sp_027 </a:t>
            </a:r>
            <a:r>
              <a:rPr lang="zh-CN" altLang="en-US" dirty="0"/>
              <a:t>依然是我估计鸿渐喜欢唐晓芙。</a:t>
            </a:r>
          </a:p>
          <a:p>
            <a:endParaRPr lang="en-US" altLang="zh-CN" dirty="0"/>
          </a:p>
          <a:p>
            <a:r>
              <a:rPr lang="en-US" altLang="zh-CN" dirty="0"/>
              <a:t>sp_033 </a:t>
            </a:r>
            <a:r>
              <a:rPr lang="zh-CN" altLang="en-US" dirty="0"/>
              <a:t>这个完全是胡言乱语</a:t>
            </a:r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sp_064 </a:t>
            </a:r>
            <a:r>
              <a:rPr lang="zh-CN" altLang="en-US" dirty="0">
                <a:solidFill>
                  <a:srgbClr val="FF0000"/>
                </a:solidFill>
              </a:rPr>
              <a:t>“多么希望“其实是五倾向的中性词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sp_069 </a:t>
            </a:r>
            <a:r>
              <a:rPr lang="zh-CN" altLang="en-US" dirty="0">
                <a:solidFill>
                  <a:srgbClr val="FF0000"/>
                </a:solidFill>
              </a:rPr>
              <a:t>左右脑互搏了 </a:t>
            </a:r>
            <a:r>
              <a:rPr lang="en-US" altLang="zh-CN" dirty="0">
                <a:solidFill>
                  <a:srgbClr val="FF0000"/>
                </a:solidFill>
              </a:rPr>
              <a:t>COT</a:t>
            </a:r>
            <a:r>
              <a:rPr lang="zh-CN" altLang="en-US" dirty="0">
                <a:solidFill>
                  <a:srgbClr val="FF0000"/>
                </a:solidFill>
              </a:rPr>
              <a:t>前半段是我们预期的输出，后半段又在反驳自己了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考虑：将抽取信息放入模板，变换句式给模型再判断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但是参考了下去年的题目，偷了谓词这个概念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00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EDC3-017F-22E8-0277-28CD9B5F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38309C-8B8E-A8A3-889B-EBF6C7784051}"/>
              </a:ext>
            </a:extLst>
          </p:cNvPr>
          <p:cNvSpPr txBox="1"/>
          <p:nvPr/>
        </p:nvSpPr>
        <p:spPr>
          <a:xfrm>
            <a:off x="244257" y="231731"/>
            <a:ext cx="1003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第八版测试：更细粒度的</a:t>
            </a:r>
            <a:r>
              <a:rPr lang="zh-CN" altLang="en-US" b="1" dirty="0">
                <a:solidFill>
                  <a:srgbClr val="FF0000"/>
                </a:solidFill>
              </a:rPr>
              <a:t>倾向定义与判断准则</a:t>
            </a:r>
            <a:r>
              <a:rPr lang="en-US" altLang="zh-CN" b="1" dirty="0">
                <a:solidFill>
                  <a:srgbClr val="FF0000"/>
                </a:solidFill>
              </a:rPr>
              <a:t>+</a:t>
            </a:r>
            <a:r>
              <a:rPr lang="zh-CN" altLang="en-US" b="1" dirty="0"/>
              <a:t>去年题目中</a:t>
            </a:r>
            <a:r>
              <a:rPr lang="zh-CN" altLang="en-US" b="1" dirty="0">
                <a:solidFill>
                  <a:srgbClr val="FF0000"/>
                </a:solidFill>
              </a:rPr>
              <a:t>对谓词类型的定义</a:t>
            </a:r>
            <a:r>
              <a:rPr lang="en-US" altLang="zh-CN" b="1" dirty="0"/>
              <a:t>+</a:t>
            </a:r>
            <a:r>
              <a:rPr lang="zh-CN" altLang="en-US" b="1" dirty="0">
                <a:solidFill>
                  <a:srgbClr val="FF0000"/>
                </a:solidFill>
              </a:rPr>
              <a:t>如何利用谓词类型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6B42B6-4301-47C8-9FBC-B3DBAF0C06B5}"/>
              </a:ext>
            </a:extLst>
          </p:cNvPr>
          <p:cNvSpPr txBox="1"/>
          <p:nvPr/>
        </p:nvSpPr>
        <p:spPr>
          <a:xfrm>
            <a:off x="-176657" y="785729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（第一轮）：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D214E7-C1FB-7F0C-FD51-F27307AF10B0}"/>
              </a:ext>
            </a:extLst>
          </p:cNvPr>
          <p:cNvSpPr txBox="1"/>
          <p:nvPr/>
        </p:nvSpPr>
        <p:spPr>
          <a:xfrm>
            <a:off x="308251" y="471983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专家建议：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CF03EA8-55F5-A0EA-7A92-440C5BB71625}"/>
              </a:ext>
            </a:extLst>
          </p:cNvPr>
          <p:cNvSpPr txBox="1"/>
          <p:nvPr/>
        </p:nvSpPr>
        <p:spPr>
          <a:xfrm>
            <a:off x="-2645487" y="8151261"/>
            <a:ext cx="2308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Prompt</a:t>
            </a:r>
            <a:r>
              <a:rPr lang="zh-CN" altLang="en-US" dirty="0"/>
              <a:t>（第二轮）：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7100C53-FA86-FB0C-FFB4-F3AFD3D44D97}"/>
              </a:ext>
            </a:extLst>
          </p:cNvPr>
          <p:cNvSpPr txBox="1"/>
          <p:nvPr/>
        </p:nvSpPr>
        <p:spPr>
          <a:xfrm>
            <a:off x="7031537" y="601063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</a:t>
            </a:r>
            <a:r>
              <a:rPr lang="zh-CN" altLang="en-US" dirty="0">
                <a:solidFill>
                  <a:srgbClr val="FF0000"/>
                </a:solidFill>
              </a:rPr>
              <a:t>温度</a:t>
            </a:r>
            <a:r>
              <a:rPr lang="en-US" altLang="zh-CN" dirty="0">
                <a:solidFill>
                  <a:srgbClr val="FF0000"/>
                </a:solidFill>
              </a:rPr>
              <a:t>0.3</a:t>
            </a:r>
            <a:r>
              <a:rPr lang="zh-CN" altLang="en-US" dirty="0"/>
              <a:t>：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25CEB99-AE83-C805-8CCB-DE9C6AFE9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169" y="4307898"/>
            <a:ext cx="3868047" cy="405505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39F59BE-7088-C61F-12B5-B12A319F8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988" y="803944"/>
            <a:ext cx="4197565" cy="330107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FFF0C79-D6DF-7C39-72C8-2748548C5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5487" y="8653943"/>
            <a:ext cx="8335703" cy="5341154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A3E3A0B8-8C96-F180-AA3E-A2039316EC18}"/>
              </a:ext>
            </a:extLst>
          </p:cNvPr>
          <p:cNvSpPr txBox="1"/>
          <p:nvPr/>
        </p:nvSpPr>
        <p:spPr>
          <a:xfrm>
            <a:off x="7031537" y="3004269"/>
            <a:ext cx="777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目前最高，但是波动很大，说明第一轮提取鲁棒性不好，用贪心解码策略：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DCF14D1-E6AE-8012-3DD1-47F8E4333A87}"/>
              </a:ext>
            </a:extLst>
          </p:cNvPr>
          <p:cNvSpPr txBox="1"/>
          <p:nvPr/>
        </p:nvSpPr>
        <p:spPr>
          <a:xfrm>
            <a:off x="6411185" y="3835301"/>
            <a:ext cx="84720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主要问题依然如下：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attitude_predicate</a:t>
            </a:r>
            <a:r>
              <a:rPr lang="zh-CN" altLang="en-US" dirty="0">
                <a:solidFill>
                  <a:srgbClr val="FF0000"/>
                </a:solidFill>
              </a:rPr>
              <a:t>提取错误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en-US" altLang="zh-CN" dirty="0" err="1">
                <a:solidFill>
                  <a:srgbClr val="FF0000"/>
                </a:solidFill>
              </a:rPr>
              <a:t>attitude_hint</a:t>
            </a:r>
            <a:r>
              <a:rPr lang="zh-CN" altLang="en-US" dirty="0">
                <a:solidFill>
                  <a:srgbClr val="FF0000"/>
                </a:solidFill>
              </a:rPr>
              <a:t>提取错误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3. </a:t>
            </a:r>
            <a:r>
              <a:rPr lang="en-US" altLang="zh-CN" dirty="0" err="1">
                <a:solidFill>
                  <a:srgbClr val="FF0000"/>
                </a:solidFill>
              </a:rPr>
              <a:t>predicate_type</a:t>
            </a:r>
            <a:r>
              <a:rPr lang="zh-CN" altLang="en-US" dirty="0">
                <a:solidFill>
                  <a:srgbClr val="FF0000"/>
                </a:solidFill>
              </a:rPr>
              <a:t>判断错误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4. basis</a:t>
            </a:r>
            <a:r>
              <a:rPr lang="zh-CN" altLang="en-US" dirty="0">
                <a:solidFill>
                  <a:srgbClr val="FF0000"/>
                </a:solidFill>
              </a:rPr>
              <a:t>提取错误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这</a:t>
            </a:r>
            <a:r>
              <a:rPr lang="en-US" altLang="zh-CN" dirty="0"/>
              <a:t>4</a:t>
            </a:r>
            <a:r>
              <a:rPr lang="zh-CN" altLang="en-US" dirty="0"/>
              <a:t>点都表明我们这个方案鲁棒性不好，太依赖第一轮的信息提取</a:t>
            </a:r>
            <a:endParaRPr lang="en-US" altLang="zh-CN" dirty="0"/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考虑把抽取信息放到固定模板中作为</a:t>
            </a:r>
            <a:r>
              <a:rPr lang="en-US" altLang="zh-CN" dirty="0">
                <a:solidFill>
                  <a:srgbClr val="FF0000"/>
                </a:solidFill>
              </a:rPr>
              <a:t>query</a:t>
            </a:r>
            <a:r>
              <a:rPr lang="zh-CN" altLang="en-US" dirty="0">
                <a:solidFill>
                  <a:srgbClr val="FF0000"/>
                </a:solidFill>
              </a:rPr>
              <a:t>，并结合原题喂给模型，让模型判断</a:t>
            </a:r>
            <a:r>
              <a:rPr lang="en-US" altLang="zh-CN" dirty="0">
                <a:solidFill>
                  <a:srgbClr val="FF0000"/>
                </a:solidFill>
              </a:rPr>
              <a:t>query </a:t>
            </a:r>
            <a:r>
              <a:rPr lang="zh-CN" altLang="en-US" dirty="0">
                <a:solidFill>
                  <a:srgbClr val="FF0000"/>
                </a:solidFill>
              </a:rPr>
              <a:t>是否正确（多个模板，多个句式，提高鲁棒性）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sp_027</a:t>
            </a:r>
            <a:r>
              <a:rPr lang="zh-CN" altLang="en-US" dirty="0"/>
              <a:t>：依然是这个题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sp_069</a:t>
            </a:r>
            <a:r>
              <a:rPr lang="zh-CN" altLang="en-US" dirty="0"/>
              <a:t>：左右脑互博了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考虑：分轮抽取信息，每轮验证（非</a:t>
            </a:r>
            <a:r>
              <a:rPr lang="en-US" altLang="zh-CN" dirty="0">
                <a:solidFill>
                  <a:srgbClr val="FF0000"/>
                </a:solidFill>
              </a:rPr>
              <a:t>MT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多轮抽取（</a:t>
            </a:r>
            <a:r>
              <a:rPr lang="en-US" altLang="zh-CN" dirty="0">
                <a:solidFill>
                  <a:srgbClr val="FF0000"/>
                </a:solidFill>
              </a:rPr>
              <a:t>MT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0E05CD-3D32-C4A3-617C-F4BDAA523D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37" y="1155061"/>
            <a:ext cx="3952381" cy="158095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3AED4BD-A119-455B-F698-856D95D7D408}"/>
              </a:ext>
            </a:extLst>
          </p:cNvPr>
          <p:cNvSpPr txBox="1"/>
          <p:nvPr/>
        </p:nvSpPr>
        <p:spPr>
          <a:xfrm>
            <a:off x="14518187" y="1391539"/>
            <a:ext cx="3679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Gpt-5.4-mini </a:t>
            </a:r>
            <a:r>
              <a:rPr lang="zh-CN" altLang="en-US" dirty="0"/>
              <a:t>中文 </a:t>
            </a:r>
            <a:r>
              <a:rPr lang="zh-CN" altLang="en-US" dirty="0">
                <a:solidFill>
                  <a:srgbClr val="FF0000"/>
                </a:solidFill>
              </a:rPr>
              <a:t>温度</a:t>
            </a:r>
            <a:r>
              <a:rPr lang="en-US" altLang="zh-CN" dirty="0">
                <a:solidFill>
                  <a:srgbClr val="FF0000"/>
                </a:solidFill>
              </a:rPr>
              <a:t>0 topp1</a:t>
            </a:r>
            <a:r>
              <a:rPr lang="zh-CN" altLang="en-US" dirty="0"/>
              <a:t>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F220F9D-3DCE-3D48-2477-2945C74327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008" y="1877623"/>
            <a:ext cx="4790476" cy="1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0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3220</TotalTime>
  <Words>1446</Words>
  <Application>Microsoft Office PowerPoint</Application>
  <PresentationFormat>宽屏</PresentationFormat>
  <Paragraphs>129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君晗 刘</dc:creator>
  <cp:lastModifiedBy>君晗 刘</cp:lastModifiedBy>
  <cp:revision>20</cp:revision>
  <dcterms:created xsi:type="dcterms:W3CDTF">2026-04-09T08:50:26Z</dcterms:created>
  <dcterms:modified xsi:type="dcterms:W3CDTF">2026-04-22T08:16:50Z</dcterms:modified>
</cp:coreProperties>
</file>